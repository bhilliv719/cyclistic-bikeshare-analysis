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Poppins"/>
      <p:regular r:id="rId17"/>
      <p:bold r:id="rId18"/>
      <p:italic r:id="rId19"/>
      <p:boldItalic r:id="rId20"/>
    </p:embeddedFont>
    <p:embeddedFont>
      <p:font typeface="Poppins Medium"/>
      <p:regular r:id="rId21"/>
      <p:bold r:id="rId22"/>
      <p:italic r:id="rId23"/>
      <p:boldItalic r:id="rId24"/>
    </p:embeddedFont>
    <p:embeddedFont>
      <p:font typeface="Nunito Sans SemiBold"/>
      <p:regular r:id="rId25"/>
      <p:bold r:id="rId26"/>
      <p:italic r:id="rId27"/>
      <p:boldItalic r:id="rId28"/>
    </p:embeddedFont>
    <p:embeddedFont>
      <p:font typeface="Poppins SemiBold"/>
      <p:regular r:id="rId29"/>
      <p:bold r:id="rId30"/>
      <p:italic r:id="rId31"/>
      <p:boldItalic r:id="rId32"/>
    </p:embeddedFont>
    <p:embeddedFont>
      <p:font typeface="Nunito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50BC3B-2448-46DB-8F58-3F80FB0E8E8C}">
  <a:tblStyle styleId="{CD50BC3B-2448-46DB-8F58-3F80FB0E8E8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Medium-bold.fntdata"/><Relationship Id="rId21" Type="http://schemas.openxmlformats.org/officeDocument/2006/relationships/font" Target="fonts/PoppinsMedium-regular.fntdata"/><Relationship Id="rId24" Type="http://schemas.openxmlformats.org/officeDocument/2006/relationships/font" Target="fonts/PoppinsMedium-boldItalic.fntdata"/><Relationship Id="rId23" Type="http://schemas.openxmlformats.org/officeDocument/2006/relationships/font" Target="fonts/Poppi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SansSemiBold-bold.fntdata"/><Relationship Id="rId25" Type="http://schemas.openxmlformats.org/officeDocument/2006/relationships/font" Target="fonts/NunitoSansSemiBold-regular.fntdata"/><Relationship Id="rId28" Type="http://schemas.openxmlformats.org/officeDocument/2006/relationships/font" Target="fonts/NunitoSansSemiBold-boldItalic.fntdata"/><Relationship Id="rId27" Type="http://schemas.openxmlformats.org/officeDocument/2006/relationships/font" Target="fonts/NunitoSansSemi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italic.fntdata"/><Relationship Id="rId30" Type="http://schemas.openxmlformats.org/officeDocument/2006/relationships/font" Target="fonts/PoppinsSemiBold-bold.fntdata"/><Relationship Id="rId11" Type="http://schemas.openxmlformats.org/officeDocument/2006/relationships/slide" Target="slides/slide5.xml"/><Relationship Id="rId33" Type="http://schemas.openxmlformats.org/officeDocument/2006/relationships/font" Target="fonts/NunitoSans-regular.fntdata"/><Relationship Id="rId10" Type="http://schemas.openxmlformats.org/officeDocument/2006/relationships/slide" Target="slides/slide4.xml"/><Relationship Id="rId32" Type="http://schemas.openxmlformats.org/officeDocument/2006/relationships/font" Target="fonts/PoppinsSemiBold-boldItalic.fntdata"/><Relationship Id="rId13" Type="http://schemas.openxmlformats.org/officeDocument/2006/relationships/slide" Target="slides/slide7.xml"/><Relationship Id="rId35" Type="http://schemas.openxmlformats.org/officeDocument/2006/relationships/font" Target="fonts/NunitoSans-italic.fntdata"/><Relationship Id="rId12" Type="http://schemas.openxmlformats.org/officeDocument/2006/relationships/slide" Target="slides/slide6.xml"/><Relationship Id="rId34" Type="http://schemas.openxmlformats.org/officeDocument/2006/relationships/font" Target="fonts/Nunito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NunitoSans-boldItalic.fntdata"/><Relationship Id="rId17" Type="http://schemas.openxmlformats.org/officeDocument/2006/relationships/font" Target="fonts/Poppins-regular.fntdata"/><Relationship Id="rId16" Type="http://schemas.openxmlformats.org/officeDocument/2006/relationships/slide" Target="slides/slide10.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64dff95a35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64dff95a35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64dff95a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64dff95a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64dff95a35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64dff95a35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u="sng">
                <a:solidFill>
                  <a:schemeClr val="dk1"/>
                </a:solidFill>
              </a:rPr>
              <a:t>State</a:t>
            </a:r>
            <a:r>
              <a:rPr b="1" lang="en" u="sng">
                <a:solidFill>
                  <a:schemeClr val="dk1"/>
                </a:solidFill>
              </a:rPr>
              <a:t> my Business task:</a:t>
            </a:r>
            <a:r>
              <a:rPr lang="en">
                <a:solidFill>
                  <a:schemeClr val="dk1"/>
                </a:solidFill>
              </a:rPr>
              <a:t> analyze how annual members and casual riders use Cyclistic bikes and identify any opportunities to convert casual riders to annual members.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64dff95a35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64dff95a35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sum of all the data i took in one clean chart. Average ride length is based on all the rides from that specific month. Total rides is the total amount of every trip with our bikes each month.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4dff95a35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4dff95a35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can see in this graph, the total number of rides decreases when we get to the winter months. We also notice casual riders take a significant dip in rides during the </a:t>
            </a:r>
            <a:r>
              <a:rPr lang="en"/>
              <a:t>winter</a:t>
            </a:r>
            <a:r>
              <a:rPr lang="en"/>
              <a:t> </a:t>
            </a:r>
            <a:r>
              <a:rPr lang="en"/>
              <a:t>months</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64dff95a35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64dff95a35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the graph, we can see that casual rides last much longer than member rides. I wonder if there is a reason for this. This brings me to my next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64dff95a35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64dff95a35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seems like casual riders are using the bikes on weekends while member riders are using the bikes on weekdays. We can infer that members are using the bikes for commuting purposes.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64dff95a35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64dff95a35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64dff95a35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64dff95a35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AutoNum type="arabicPeriod"/>
            </a:pPr>
            <a:r>
              <a:rPr lang="en" sz="1000">
                <a:solidFill>
                  <a:schemeClr val="dk1"/>
                </a:solidFill>
              </a:rPr>
              <a:t>This could help to entice the casual riders to purchase annual memberships.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sz="1000">
                <a:solidFill>
                  <a:schemeClr val="dk1"/>
                </a:solidFill>
              </a:rPr>
              <a:t>This will help show that our memberships have a consistent value beyond just summer fun.</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 </a:t>
            </a:r>
            <a:r>
              <a:rPr lang="en" sz="1000">
                <a:solidFill>
                  <a:schemeClr val="dk1"/>
                </a:solidFill>
              </a:rPr>
              <a:t>This can give the rider an immediate and personal value to our membership.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64dff95a35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64dff95a35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2"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3"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8"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1"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1"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r="100%" t="100%"/>
            </a:path>
            <a:tileRect b="-100%" l="-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r="100%" t="100%"/>
            </a:path>
            <a:tileRect b="-100%" l="-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2" l="57200"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1"/>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l="100%" t="100%"/>
            </a:path>
            <a:tileRect b="-100%" r="-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0"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a:path>
            <a:tileRect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1" l="149"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2"/>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r="100%" t="100%"/>
            </a:path>
            <a:tileRect b="-100%" l="-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6"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l="100%" t="100%"/>
            </a:path>
            <a:tileRect b="-100%" r="-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3" r="13407"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1"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1"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1"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1"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1"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59"/>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r="100%" t="100%"/>
            </a:path>
            <a:tileRect b="-100%" l="-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8"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analysis Presentation</a:t>
            </a:r>
            <a:endParaRPr/>
          </a:p>
        </p:txBody>
      </p:sp>
      <p:sp>
        <p:nvSpPr>
          <p:cNvPr id="427" name="Google Shape;427;p45"/>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Cyclistic Bike-share</a:t>
            </a:r>
            <a:endParaRPr/>
          </a:p>
        </p:txBody>
      </p:sp>
      <p:sp>
        <p:nvSpPr>
          <p:cNvPr id="428" name="Google Shape;428;p45"/>
          <p:cNvSpPr/>
          <p:nvPr/>
        </p:nvSpPr>
        <p:spPr>
          <a:xfrm>
            <a:off x="3509400" y="3583775"/>
            <a:ext cx="2125200" cy="6288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08/2024-07/2025</a:t>
            </a:r>
            <a:endParaRPr sz="1000">
              <a:solidFill>
                <a:schemeClr val="dk2"/>
              </a:solidFill>
              <a:latin typeface="Nunito Sans SemiBold"/>
              <a:ea typeface="Nunito Sans SemiBold"/>
              <a:cs typeface="Nunito Sans SemiBold"/>
              <a:sym typeface="Nunito Sans SemiBold"/>
            </a:endParaRPr>
          </a:p>
        </p:txBody>
      </p:sp>
      <p:sp>
        <p:nvSpPr>
          <p:cNvPr id="429" name="Google Shape;429;p45"/>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30" name="Google Shape;430;p45"/>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6"/>
          <p:cNvSpPr/>
          <p:nvPr/>
        </p:nvSpPr>
        <p:spPr>
          <a:xfrm>
            <a:off x="3577325" y="5365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6" name="Google Shape;436;p46"/>
          <p:cNvSpPr/>
          <p:nvPr/>
        </p:nvSpPr>
        <p:spPr>
          <a:xfrm>
            <a:off x="3577325" y="12286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7" name="Google Shape;437;p46"/>
          <p:cNvSpPr/>
          <p:nvPr/>
        </p:nvSpPr>
        <p:spPr>
          <a:xfrm>
            <a:off x="3577325" y="19206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8" name="Google Shape;438;p46"/>
          <p:cNvSpPr/>
          <p:nvPr/>
        </p:nvSpPr>
        <p:spPr>
          <a:xfrm>
            <a:off x="3577325" y="26127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9" name="Google Shape;439;p46"/>
          <p:cNvSpPr/>
          <p:nvPr/>
        </p:nvSpPr>
        <p:spPr>
          <a:xfrm>
            <a:off x="3577325" y="33047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40" name="Google Shape;440;p46"/>
          <p:cNvSpPr/>
          <p:nvPr/>
        </p:nvSpPr>
        <p:spPr>
          <a:xfrm>
            <a:off x="3577325" y="39968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441" name="Google Shape;441;p46"/>
          <p:cNvCxnSpPr/>
          <p:nvPr/>
        </p:nvCxnSpPr>
        <p:spPr>
          <a:xfrm>
            <a:off x="4087725" y="10826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42" name="Google Shape;442;p46"/>
          <p:cNvCxnSpPr/>
          <p:nvPr/>
        </p:nvCxnSpPr>
        <p:spPr>
          <a:xfrm>
            <a:off x="4087725" y="17747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43" name="Google Shape;443;p46"/>
          <p:cNvCxnSpPr/>
          <p:nvPr/>
        </p:nvCxnSpPr>
        <p:spPr>
          <a:xfrm>
            <a:off x="4087725" y="24667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44" name="Google Shape;444;p46"/>
          <p:cNvCxnSpPr/>
          <p:nvPr/>
        </p:nvCxnSpPr>
        <p:spPr>
          <a:xfrm>
            <a:off x="4087725" y="31588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45" name="Google Shape;445;p46"/>
          <p:cNvCxnSpPr/>
          <p:nvPr/>
        </p:nvCxnSpPr>
        <p:spPr>
          <a:xfrm>
            <a:off x="4087725" y="3850875"/>
            <a:ext cx="4770000" cy="0"/>
          </a:xfrm>
          <a:prstGeom prst="straightConnector1">
            <a:avLst/>
          </a:prstGeom>
          <a:noFill/>
          <a:ln cap="flat" cmpd="sng" w="9525">
            <a:solidFill>
              <a:schemeClr val="accent6"/>
            </a:solidFill>
            <a:prstDash val="solid"/>
            <a:round/>
            <a:headEnd len="med" w="med" type="none"/>
            <a:tailEnd len="med" w="med" type="none"/>
          </a:ln>
        </p:spPr>
      </p:cxnSp>
      <p:sp>
        <p:nvSpPr>
          <p:cNvPr id="446" name="Google Shape;446;p46"/>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47" name="Google Shape;447;p46"/>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48" name="Google Shape;448;p46"/>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49" name="Google Shape;449;p46"/>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50" name="Google Shape;450;p46"/>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51" name="Google Shape;451;p46"/>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52" name="Google Shape;452;p46"/>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overview</a:t>
            </a:r>
            <a:endParaRPr/>
          </a:p>
        </p:txBody>
      </p:sp>
      <p:sp>
        <p:nvSpPr>
          <p:cNvPr id="453" name="Google Shape;453;p46"/>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Table</a:t>
            </a:r>
            <a:endParaRPr/>
          </a:p>
        </p:txBody>
      </p:sp>
      <p:sp>
        <p:nvSpPr>
          <p:cNvPr id="454" name="Google Shape;454;p46"/>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analysis graphs/charts</a:t>
            </a:r>
            <a:endParaRPr/>
          </a:p>
        </p:txBody>
      </p:sp>
      <p:sp>
        <p:nvSpPr>
          <p:cNvPr id="455" name="Google Shape;455;p46"/>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Recommendations</a:t>
            </a:r>
            <a:endParaRPr/>
          </a:p>
        </p:txBody>
      </p:sp>
      <p:sp>
        <p:nvSpPr>
          <p:cNvPr id="456" name="Google Shape;456;p46"/>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Actionable steps</a:t>
            </a:r>
            <a:endParaRPr/>
          </a:p>
        </p:txBody>
      </p:sp>
      <p:sp>
        <p:nvSpPr>
          <p:cNvPr id="457" name="Google Shape;457;p46"/>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458" name="Google Shape;458;p46"/>
          <p:cNvSpPr txBox="1"/>
          <p:nvPr>
            <p:ph type="title"/>
          </p:nvPr>
        </p:nvSpPr>
        <p:spPr>
          <a:xfrm>
            <a:off x="228600" y="256925"/>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Agenda</a:t>
            </a:r>
            <a:endParaRPr/>
          </a:p>
        </p:txBody>
      </p:sp>
      <p:sp>
        <p:nvSpPr>
          <p:cNvPr id="459" name="Google Shape;459;p46"/>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3</a:t>
            </a:r>
            <a:endParaRPr/>
          </a:p>
        </p:txBody>
      </p:sp>
      <p:sp>
        <p:nvSpPr>
          <p:cNvPr id="460" name="Google Shape;460;p46"/>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4</a:t>
            </a:r>
            <a:endParaRPr/>
          </a:p>
        </p:txBody>
      </p:sp>
      <p:sp>
        <p:nvSpPr>
          <p:cNvPr id="461" name="Google Shape;461;p46"/>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5-7</a:t>
            </a:r>
            <a:endParaRPr/>
          </a:p>
        </p:txBody>
      </p:sp>
      <p:sp>
        <p:nvSpPr>
          <p:cNvPr id="462" name="Google Shape;462;p46"/>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8</a:t>
            </a:r>
            <a:endParaRPr/>
          </a:p>
        </p:txBody>
      </p:sp>
      <p:sp>
        <p:nvSpPr>
          <p:cNvPr id="463" name="Google Shape;463;p46"/>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9</a:t>
            </a:r>
            <a:endParaRPr/>
          </a:p>
        </p:txBody>
      </p:sp>
      <p:sp>
        <p:nvSpPr>
          <p:cNvPr id="464" name="Google Shape;464;p46"/>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Slide 10</a:t>
            </a:r>
            <a:endParaRPr/>
          </a:p>
        </p:txBody>
      </p:sp>
      <p:sp>
        <p:nvSpPr>
          <p:cNvPr id="465" name="Google Shape;465;p46"/>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466" name="Google Shape;466;p46"/>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7"/>
          <p:cNvSpPr txBox="1"/>
          <p:nvPr>
            <p:ph type="title"/>
          </p:nvPr>
        </p:nvSpPr>
        <p:spPr>
          <a:xfrm>
            <a:off x="1249050" y="1150201"/>
            <a:ext cx="66459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t>The purpose of this presentation is to analyze Cyclistic’s bike-share data to uncover differences between casual riders and annual members, highlight patterns in ride behavior, and provide actionable recommendations that can help the company increase annual memberships and long-term customer engagement.</a:t>
            </a:r>
            <a:endParaRPr sz="2300"/>
          </a:p>
        </p:txBody>
      </p:sp>
      <p:sp>
        <p:nvSpPr>
          <p:cNvPr id="472" name="Google Shape;472;p47"/>
          <p:cNvSpPr/>
          <p:nvPr/>
        </p:nvSpPr>
        <p:spPr>
          <a:xfrm>
            <a:off x="3551400" y="63242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PROJECT </a:t>
            </a:r>
            <a:r>
              <a:rPr lang="en" sz="1000">
                <a:solidFill>
                  <a:schemeClr val="dk1"/>
                </a:solidFill>
                <a:latin typeface="Poppins SemiBold"/>
                <a:ea typeface="Poppins SemiBold"/>
                <a:cs typeface="Poppins SemiBold"/>
                <a:sym typeface="Poppins SemiBold"/>
              </a:rPr>
              <a:t>OVERVIEW</a:t>
            </a:r>
            <a:endParaRPr sz="1000">
              <a:solidFill>
                <a:schemeClr val="dk1"/>
              </a:solidFill>
              <a:latin typeface="Poppins SemiBold"/>
              <a:ea typeface="Poppins SemiBold"/>
              <a:cs typeface="Poppins SemiBold"/>
              <a:sym typeface="Poppins SemiBold"/>
            </a:endParaRPr>
          </a:p>
        </p:txBody>
      </p:sp>
      <p:sp>
        <p:nvSpPr>
          <p:cNvPr id="473" name="Google Shape;473;p47"/>
          <p:cNvSpPr txBox="1"/>
          <p:nvPr>
            <p:ph idx="4294967295" type="subTitle"/>
          </p:nvPr>
        </p:nvSpPr>
        <p:spPr>
          <a:xfrm>
            <a:off x="228600" y="4800275"/>
            <a:ext cx="13911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Confidential</a:t>
            </a:r>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477" name="Shape 477"/>
        <p:cNvGrpSpPr/>
        <p:nvPr/>
      </p:nvGrpSpPr>
      <p:grpSpPr>
        <a:xfrm>
          <a:off x="0" y="0"/>
          <a:ext cx="0" cy="0"/>
          <a:chOff x="0" y="0"/>
          <a:chExt cx="0" cy="0"/>
        </a:xfrm>
      </p:grpSpPr>
      <p:sp>
        <p:nvSpPr>
          <p:cNvPr id="478" name="Google Shape;478;p48"/>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graphicFrame>
        <p:nvGraphicFramePr>
          <p:cNvPr id="479" name="Google Shape;479;p48"/>
          <p:cNvGraphicFramePr/>
          <p:nvPr/>
        </p:nvGraphicFramePr>
        <p:xfrm>
          <a:off x="1190325" y="193838"/>
          <a:ext cx="3000000" cy="3000000"/>
        </p:xfrm>
        <a:graphic>
          <a:graphicData uri="http://schemas.openxmlformats.org/drawingml/2006/table">
            <a:tbl>
              <a:tblPr>
                <a:noFill/>
                <a:tableStyleId>{CD50BC3B-2448-46DB-8F58-3F80FB0E8E8C}</a:tableStyleId>
              </a:tblPr>
              <a:tblGrid>
                <a:gridCol w="952775"/>
                <a:gridCol w="1011550"/>
                <a:gridCol w="1122600"/>
                <a:gridCol w="962300"/>
                <a:gridCol w="886100"/>
                <a:gridCol w="962300"/>
                <a:gridCol w="1314725"/>
              </a:tblGrid>
              <a:tr h="740025">
                <a:tc>
                  <a:txBody>
                    <a:bodyPr/>
                    <a:lstStyle/>
                    <a:p>
                      <a:pPr indent="0" lvl="0" marL="0" rtl="0" algn="ctr">
                        <a:spcBef>
                          <a:spcPts val="0"/>
                        </a:spcBef>
                        <a:spcAft>
                          <a:spcPts val="0"/>
                        </a:spcAft>
                        <a:buNone/>
                      </a:pPr>
                      <a:r>
                        <a:rPr b="1" lang="en" sz="1200"/>
                        <a:t>Month</a:t>
                      </a:r>
                      <a:endParaRPr b="1" sz="1200"/>
                    </a:p>
                  </a:txBody>
                  <a:tcPr marT="9525" marB="91425" marR="9525" marL="9525" anchor="ctr">
                    <a:solidFill>
                      <a:schemeClr val="accent1"/>
                    </a:solidFill>
                  </a:tcPr>
                </a:tc>
                <a:tc>
                  <a:txBody>
                    <a:bodyPr/>
                    <a:lstStyle/>
                    <a:p>
                      <a:pPr indent="0" lvl="0" marL="0" rtl="0" algn="ctr">
                        <a:lnSpc>
                          <a:spcPct val="115000"/>
                        </a:lnSpc>
                        <a:spcBef>
                          <a:spcPts val="0"/>
                        </a:spcBef>
                        <a:spcAft>
                          <a:spcPts val="0"/>
                        </a:spcAft>
                        <a:buNone/>
                      </a:pPr>
                      <a:r>
                        <a:rPr b="1" lang="en" sz="1200"/>
                        <a:t>A</a:t>
                      </a:r>
                      <a:r>
                        <a:rPr b="1" lang="en" sz="1200"/>
                        <a:t>verage ride length casual</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 sz="1200"/>
                        <a:t>A</a:t>
                      </a:r>
                      <a:r>
                        <a:rPr b="1" lang="en" sz="1200"/>
                        <a:t>verage ride length member</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 sz="1200"/>
                        <a:t>Casual</a:t>
                      </a:r>
                      <a:r>
                        <a:rPr b="1" lang="en" sz="1200"/>
                        <a:t> </a:t>
                      </a:r>
                      <a:endParaRPr b="1" sz="1200"/>
                    </a:p>
                    <a:p>
                      <a:pPr indent="0" lvl="0" marL="0" rtl="0" algn="ctr">
                        <a:lnSpc>
                          <a:spcPct val="115000"/>
                        </a:lnSpc>
                        <a:spcBef>
                          <a:spcPts val="0"/>
                        </a:spcBef>
                        <a:spcAft>
                          <a:spcPts val="0"/>
                        </a:spcAft>
                        <a:buNone/>
                      </a:pPr>
                      <a:r>
                        <a:rPr b="1" lang="en" sz="1200"/>
                        <a:t>rides</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 sz="1200"/>
                        <a:t>Member rides</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 sz="1200"/>
                        <a:t>Mean ride length</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 sz="1200"/>
                        <a:t>T</a:t>
                      </a:r>
                      <a:r>
                        <a:rPr b="1" lang="en" sz="1200"/>
                        <a:t>otal rides</a:t>
                      </a:r>
                      <a:endParaRPr b="1" sz="1200"/>
                    </a:p>
                  </a:txBody>
                  <a:tcPr marT="9525" marB="91425" marR="9525" marL="9525" anchor="ctr">
                    <a:lnB cap="flat" cmpd="sng" w="6350">
                      <a:solidFill>
                        <a:srgbClr val="44B3E1"/>
                      </a:solidFill>
                      <a:prstDash val="solid"/>
                      <a:round/>
                      <a:headEnd len="sm" w="sm" type="none"/>
                      <a:tailEnd len="sm" w="sm" type="none"/>
                    </a:lnB>
                    <a:solidFill>
                      <a:schemeClr val="accent1"/>
                    </a:solidFill>
                  </a:tcPr>
                </a:tc>
              </a:tr>
              <a:tr h="334650">
                <a:tc>
                  <a:txBody>
                    <a:bodyPr/>
                    <a:lstStyle/>
                    <a:p>
                      <a:pPr indent="0" lvl="0" marL="0" rtl="0" algn="ctr">
                        <a:lnSpc>
                          <a:spcPct val="115000"/>
                        </a:lnSpc>
                        <a:spcBef>
                          <a:spcPts val="0"/>
                        </a:spcBef>
                        <a:spcAft>
                          <a:spcPts val="0"/>
                        </a:spcAft>
                        <a:buNone/>
                      </a:pPr>
                      <a:r>
                        <a:rPr b="1" lang="en" sz="1200"/>
                        <a:t>Jul-25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0:24:20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0:13:21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323337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440095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0:18:00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763432</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Jun-25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0:25:34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0:12:57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292093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386811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0:18:23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678904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May-25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0:23:50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0:12:07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182637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319819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0:16:23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502456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Apr-25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0:21:30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0:11:20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109216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262125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0:14:19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371341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Mar-25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0:20:51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0:11:16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85869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212286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0:14:02</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298155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Feb-25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0:14:24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0:10:00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27754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124126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0:10:48</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151880</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Jan-25</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0:14:43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0:10:04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24153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114536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0:10:53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138689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Dec-24</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0:17:45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0:10:46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38376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139996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0:12:16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178372</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Nov-24</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0:19:29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0:11:07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93078</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241997</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0:13:26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335075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Oct-24</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0:23:14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0:11:59</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216446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399835</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0:15:56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616281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Sep-24</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0:21:38</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0:12:13</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346804</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474472</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0:16:11</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c>
                  <a:txBody>
                    <a:bodyPr/>
                    <a:lstStyle/>
                    <a:p>
                      <a:pPr indent="0" lvl="0" marL="0" rtl="0" algn="ctr">
                        <a:lnSpc>
                          <a:spcPct val="115000"/>
                        </a:lnSpc>
                        <a:spcBef>
                          <a:spcPts val="0"/>
                        </a:spcBef>
                        <a:spcAft>
                          <a:spcPts val="0"/>
                        </a:spcAft>
                        <a:buNone/>
                      </a:pPr>
                      <a:r>
                        <a:rPr b="1" lang="en" sz="1200"/>
                        <a:t>821276</a:t>
                      </a:r>
                      <a:endParaRPr b="1" sz="1200"/>
                    </a:p>
                  </a:txBody>
                  <a:tcPr marT="9525" marB="91425" marR="9525" marL="9525" anchor="ctr">
                    <a:lnT cap="flat" cmpd="sng" w="6350">
                      <a:solidFill>
                        <a:srgbClr val="44B3E1"/>
                      </a:solidFill>
                      <a:prstDash val="solid"/>
                      <a:round/>
                      <a:headEnd len="sm" w="sm" type="none"/>
                      <a:tailEnd len="sm" w="sm" type="none"/>
                    </a:lnT>
                    <a:lnB cap="flat" cmpd="sng" w="6350">
                      <a:solidFill>
                        <a:srgbClr val="44B3E1"/>
                      </a:solidFill>
                      <a:prstDash val="solid"/>
                      <a:round/>
                      <a:headEnd len="sm" w="sm" type="none"/>
                      <a:tailEnd len="sm" w="sm" type="none"/>
                    </a:lnB>
                    <a:solidFill>
                      <a:srgbClr val="C0E6F5"/>
                    </a:solidFill>
                  </a:tcPr>
                </a:tc>
              </a:tr>
              <a:tr h="334650">
                <a:tc>
                  <a:txBody>
                    <a:bodyPr/>
                    <a:lstStyle/>
                    <a:p>
                      <a:pPr indent="0" lvl="0" marL="0" rtl="0" algn="ctr">
                        <a:lnSpc>
                          <a:spcPct val="115000"/>
                        </a:lnSpc>
                        <a:spcBef>
                          <a:spcPts val="0"/>
                        </a:spcBef>
                        <a:spcAft>
                          <a:spcPts val="0"/>
                        </a:spcAft>
                        <a:buNone/>
                      </a:pPr>
                      <a:r>
                        <a:rPr b="1" lang="en" sz="1200"/>
                        <a:t>Aug-24</a:t>
                      </a:r>
                      <a:endParaRPr b="1" sz="1200"/>
                    </a:p>
                  </a:txBody>
                  <a:tcPr marT="9525" marB="91425" marR="9525" marL="9525" anchor="ctr">
                    <a:solidFill>
                      <a:schemeClr val="dk1"/>
                    </a:solidFill>
                  </a:tcPr>
                </a:tc>
                <a:tc>
                  <a:txBody>
                    <a:bodyPr/>
                    <a:lstStyle/>
                    <a:p>
                      <a:pPr indent="0" lvl="0" marL="0" rtl="0" algn="ctr">
                        <a:lnSpc>
                          <a:spcPct val="115000"/>
                        </a:lnSpc>
                        <a:spcBef>
                          <a:spcPts val="0"/>
                        </a:spcBef>
                        <a:spcAft>
                          <a:spcPts val="0"/>
                        </a:spcAft>
                        <a:buNone/>
                      </a:pPr>
                      <a:r>
                        <a:rPr b="1" lang="en" sz="1200"/>
                        <a:t>0:26:04</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c>
                  <a:txBody>
                    <a:bodyPr/>
                    <a:lstStyle/>
                    <a:p>
                      <a:pPr indent="0" lvl="0" marL="0" rtl="0" algn="ctr">
                        <a:lnSpc>
                          <a:spcPct val="115000"/>
                        </a:lnSpc>
                        <a:spcBef>
                          <a:spcPts val="0"/>
                        </a:spcBef>
                        <a:spcAft>
                          <a:spcPts val="0"/>
                        </a:spcAft>
                        <a:buNone/>
                      </a:pPr>
                      <a:r>
                        <a:rPr b="1" lang="en" sz="1200"/>
                        <a:t>0:13:25</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c>
                  <a:txBody>
                    <a:bodyPr/>
                    <a:lstStyle/>
                    <a:p>
                      <a:pPr indent="0" lvl="0" marL="0" rtl="0" algn="ctr">
                        <a:lnSpc>
                          <a:spcPct val="115000"/>
                        </a:lnSpc>
                        <a:spcBef>
                          <a:spcPts val="0"/>
                        </a:spcBef>
                        <a:spcAft>
                          <a:spcPts val="0"/>
                        </a:spcAft>
                        <a:buNone/>
                      </a:pPr>
                      <a:r>
                        <a:rPr b="1" lang="en" sz="1200"/>
                        <a:t>318280</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c>
                  <a:txBody>
                    <a:bodyPr/>
                    <a:lstStyle/>
                    <a:p>
                      <a:pPr indent="0" lvl="0" marL="0" rtl="0" algn="ctr">
                        <a:lnSpc>
                          <a:spcPct val="115000"/>
                        </a:lnSpc>
                        <a:spcBef>
                          <a:spcPts val="0"/>
                        </a:spcBef>
                        <a:spcAft>
                          <a:spcPts val="0"/>
                        </a:spcAft>
                        <a:buNone/>
                      </a:pPr>
                      <a:r>
                        <a:rPr b="1" lang="en" sz="1200"/>
                        <a:t>437359</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c>
                  <a:txBody>
                    <a:bodyPr/>
                    <a:lstStyle/>
                    <a:p>
                      <a:pPr indent="0" lvl="0" marL="0" rtl="0" algn="ctr">
                        <a:lnSpc>
                          <a:spcPct val="115000"/>
                        </a:lnSpc>
                        <a:spcBef>
                          <a:spcPts val="0"/>
                        </a:spcBef>
                        <a:spcAft>
                          <a:spcPts val="0"/>
                        </a:spcAft>
                        <a:buNone/>
                      </a:pPr>
                      <a:r>
                        <a:rPr b="1" lang="en" sz="1200"/>
                        <a:t>0:18:45</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c>
                  <a:txBody>
                    <a:bodyPr/>
                    <a:lstStyle/>
                    <a:p>
                      <a:pPr indent="0" lvl="0" marL="0" rtl="0" algn="ctr">
                        <a:lnSpc>
                          <a:spcPct val="115000"/>
                        </a:lnSpc>
                        <a:spcBef>
                          <a:spcPts val="0"/>
                        </a:spcBef>
                        <a:spcAft>
                          <a:spcPts val="0"/>
                        </a:spcAft>
                        <a:buNone/>
                      </a:pPr>
                      <a:r>
                        <a:rPr b="1" lang="en" sz="1200"/>
                        <a:t>755639</a:t>
                      </a:r>
                      <a:endParaRPr b="1" sz="1200"/>
                    </a:p>
                  </a:txBody>
                  <a:tcPr marT="9525" marB="91425" marR="9525" marL="9525" anchor="ctr">
                    <a:lnT cap="flat" cmpd="sng" w="6350">
                      <a:solidFill>
                        <a:srgbClr val="44B3E1"/>
                      </a:solidFill>
                      <a:prstDash val="solid"/>
                      <a:round/>
                      <a:headEnd len="sm" w="sm" type="none"/>
                      <a:tailEnd len="sm" w="sm" type="none"/>
                    </a:lnT>
                    <a:solidFill>
                      <a:srgbClr val="C0E6F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9"/>
          <p:cNvSpPr txBox="1"/>
          <p:nvPr>
            <p:ph type="title"/>
          </p:nvPr>
        </p:nvSpPr>
        <p:spPr>
          <a:xfrm>
            <a:off x="301050" y="20345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Analysis</a:t>
            </a:r>
            <a:r>
              <a:rPr lang="en"/>
              <a:t> of total rides</a:t>
            </a:r>
            <a:endParaRPr/>
          </a:p>
        </p:txBody>
      </p:sp>
      <p:pic>
        <p:nvPicPr>
          <p:cNvPr id="485" name="Google Shape;485;p49"/>
          <p:cNvPicPr preferRelativeResize="0"/>
          <p:nvPr/>
        </p:nvPicPr>
        <p:blipFill>
          <a:blip r:embed="rId3">
            <a:alphaModFix/>
          </a:blip>
          <a:stretch>
            <a:fillRect/>
          </a:stretch>
        </p:blipFill>
        <p:spPr>
          <a:xfrm>
            <a:off x="3811319" y="819050"/>
            <a:ext cx="5104080" cy="4093274"/>
          </a:xfrm>
          <a:prstGeom prst="rect">
            <a:avLst/>
          </a:prstGeom>
          <a:noFill/>
          <a:ln>
            <a:noFill/>
          </a:ln>
        </p:spPr>
      </p:pic>
      <p:sp>
        <p:nvSpPr>
          <p:cNvPr id="486" name="Google Shape;486;p49"/>
          <p:cNvSpPr txBox="1"/>
          <p:nvPr/>
        </p:nvSpPr>
        <p:spPr>
          <a:xfrm>
            <a:off x="457200" y="1200150"/>
            <a:ext cx="3057600" cy="35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This graph shows the total ride count, the casual ride count, and the member ride count.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0"/>
          <p:cNvSpPr txBox="1"/>
          <p:nvPr>
            <p:ph type="title"/>
          </p:nvPr>
        </p:nvSpPr>
        <p:spPr>
          <a:xfrm>
            <a:off x="228600" y="228600"/>
            <a:ext cx="57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Analysis of Ride length</a:t>
            </a:r>
            <a:endParaRPr/>
          </a:p>
        </p:txBody>
      </p:sp>
      <p:sp>
        <p:nvSpPr>
          <p:cNvPr id="492" name="Google Shape;492;p50"/>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493" name="Google Shape;493;p50"/>
          <p:cNvSpPr txBox="1"/>
          <p:nvPr/>
        </p:nvSpPr>
        <p:spPr>
          <a:xfrm>
            <a:off x="228600" y="933450"/>
            <a:ext cx="19527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Shows the difference in ride length between casual and member rides throughout each month.</a:t>
            </a:r>
            <a:endParaRPr sz="1200">
              <a:solidFill>
                <a:schemeClr val="dk1"/>
              </a:solidFill>
              <a:latin typeface="Nunito Sans"/>
              <a:ea typeface="Nunito Sans"/>
              <a:cs typeface="Nunito Sans"/>
              <a:sym typeface="Nunito Sans"/>
            </a:endParaRPr>
          </a:p>
        </p:txBody>
      </p:sp>
      <p:pic>
        <p:nvPicPr>
          <p:cNvPr id="494" name="Google Shape;494;p50"/>
          <p:cNvPicPr preferRelativeResize="0"/>
          <p:nvPr/>
        </p:nvPicPr>
        <p:blipFill>
          <a:blip r:embed="rId3">
            <a:alphaModFix/>
          </a:blip>
          <a:stretch>
            <a:fillRect/>
          </a:stretch>
        </p:blipFill>
        <p:spPr>
          <a:xfrm>
            <a:off x="2190825" y="933450"/>
            <a:ext cx="6611475" cy="3800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1"/>
          <p:cNvSpPr txBox="1"/>
          <p:nvPr>
            <p:ph type="title"/>
          </p:nvPr>
        </p:nvSpPr>
        <p:spPr>
          <a:xfrm>
            <a:off x="228600" y="256925"/>
            <a:ext cx="37719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Most common day of the week</a:t>
            </a:r>
            <a:endParaRPr/>
          </a:p>
        </p:txBody>
      </p:sp>
      <p:sp>
        <p:nvSpPr>
          <p:cNvPr id="500" name="Google Shape;500;p51"/>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this table, we can start to get an explanation as to why casual rides are longer than member rides. </a:t>
            </a:r>
            <a:endParaRPr/>
          </a:p>
        </p:txBody>
      </p:sp>
      <p:grpSp>
        <p:nvGrpSpPr>
          <p:cNvPr id="501" name="Google Shape;501;p51"/>
          <p:cNvGrpSpPr/>
          <p:nvPr/>
        </p:nvGrpSpPr>
        <p:grpSpPr>
          <a:xfrm>
            <a:off x="1311565" y="645027"/>
            <a:ext cx="1605959" cy="270489"/>
            <a:chOff x="308528" y="1555007"/>
            <a:chExt cx="1986589" cy="270489"/>
          </a:xfrm>
        </p:grpSpPr>
        <p:sp>
          <p:nvSpPr>
            <p:cNvPr id="502" name="Google Shape;502;p51"/>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03" name="Google Shape;503;p51"/>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504" name="Google Shape;504;p5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graphicFrame>
        <p:nvGraphicFramePr>
          <p:cNvPr id="505" name="Google Shape;505;p51"/>
          <p:cNvGraphicFramePr/>
          <p:nvPr/>
        </p:nvGraphicFramePr>
        <p:xfrm>
          <a:off x="4095750" y="152250"/>
          <a:ext cx="3000000" cy="3000000"/>
        </p:xfrm>
        <a:graphic>
          <a:graphicData uri="http://schemas.openxmlformats.org/drawingml/2006/table">
            <a:tbl>
              <a:tblPr>
                <a:noFill/>
                <a:tableStyleId>{CD50BC3B-2448-46DB-8F58-3F80FB0E8E8C}</a:tableStyleId>
              </a:tblPr>
              <a:tblGrid>
                <a:gridCol w="1584325"/>
                <a:gridCol w="1584325"/>
                <a:gridCol w="1584325"/>
              </a:tblGrid>
              <a:tr h="318000">
                <a:tc>
                  <a:txBody>
                    <a:bodyPr/>
                    <a:lstStyle/>
                    <a:p>
                      <a:pPr indent="0" lvl="0" marL="0" rtl="0" algn="ctr">
                        <a:lnSpc>
                          <a:spcPct val="115000"/>
                        </a:lnSpc>
                        <a:spcBef>
                          <a:spcPts val="0"/>
                        </a:spcBef>
                        <a:spcAft>
                          <a:spcPts val="0"/>
                        </a:spcAft>
                        <a:buNone/>
                      </a:pPr>
                      <a:r>
                        <a:rPr b="1" lang="en" sz="1200"/>
                        <a:t>Month</a:t>
                      </a:r>
                      <a:endParaRPr b="1"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83CCEB"/>
                    </a:solidFill>
                  </a:tcPr>
                </a:tc>
                <a:tc>
                  <a:txBody>
                    <a:bodyPr/>
                    <a:lstStyle/>
                    <a:p>
                      <a:pPr indent="0" lvl="0" marL="0" rtl="0" algn="ctr">
                        <a:lnSpc>
                          <a:spcPct val="115000"/>
                        </a:lnSpc>
                        <a:spcBef>
                          <a:spcPts val="0"/>
                        </a:spcBef>
                        <a:spcAft>
                          <a:spcPts val="0"/>
                        </a:spcAft>
                        <a:buNone/>
                      </a:pPr>
                      <a:r>
                        <a:rPr b="1" lang="en" sz="1200"/>
                        <a:t>Most common day Casual</a:t>
                      </a:r>
                      <a:endParaRPr b="1"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83CCEB"/>
                    </a:solidFill>
                  </a:tcPr>
                </a:tc>
                <a:tc>
                  <a:txBody>
                    <a:bodyPr/>
                    <a:lstStyle/>
                    <a:p>
                      <a:pPr indent="0" lvl="0" marL="0" rtl="0" algn="ctr">
                        <a:lnSpc>
                          <a:spcPct val="115000"/>
                        </a:lnSpc>
                        <a:spcBef>
                          <a:spcPts val="0"/>
                        </a:spcBef>
                        <a:spcAft>
                          <a:spcPts val="0"/>
                        </a:spcAft>
                        <a:buNone/>
                      </a:pPr>
                      <a:r>
                        <a:rPr b="1" lang="en" sz="1200"/>
                        <a:t>Most common day Member</a:t>
                      </a:r>
                      <a:endParaRPr b="1"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83CCEB"/>
                    </a:solidFill>
                  </a:tcPr>
                </a:tc>
              </a:tr>
              <a:tr h="318000">
                <a:tc>
                  <a:txBody>
                    <a:bodyPr/>
                    <a:lstStyle/>
                    <a:p>
                      <a:pPr indent="0" lvl="0" marL="0" rtl="0" algn="ctr">
                        <a:lnSpc>
                          <a:spcPct val="115000"/>
                        </a:lnSpc>
                        <a:spcBef>
                          <a:spcPts val="0"/>
                        </a:spcBef>
                        <a:spcAft>
                          <a:spcPts val="0"/>
                        </a:spcAft>
                        <a:buNone/>
                      </a:pPr>
                      <a:r>
                        <a:rPr lang="en" sz="1200"/>
                        <a:t>Jul-25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Tuesday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Jun-25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Monday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18000">
                <a:tc>
                  <a:txBody>
                    <a:bodyPr/>
                    <a:lstStyle/>
                    <a:p>
                      <a:pPr indent="0" lvl="0" marL="0" rtl="0" algn="ctr">
                        <a:lnSpc>
                          <a:spcPct val="115000"/>
                        </a:lnSpc>
                        <a:spcBef>
                          <a:spcPts val="0"/>
                        </a:spcBef>
                        <a:spcAft>
                          <a:spcPts val="0"/>
                        </a:spcAft>
                        <a:buNone/>
                      </a:pPr>
                      <a:r>
                        <a:rPr lang="en" sz="1200"/>
                        <a:t>May-25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Thursday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Apr-25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Tuesday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18000">
                <a:tc>
                  <a:txBody>
                    <a:bodyPr/>
                    <a:lstStyle/>
                    <a:p>
                      <a:pPr indent="0" lvl="0" marL="0" rtl="0" algn="ctr">
                        <a:lnSpc>
                          <a:spcPct val="115000"/>
                        </a:lnSpc>
                        <a:spcBef>
                          <a:spcPts val="0"/>
                        </a:spcBef>
                        <a:spcAft>
                          <a:spcPts val="0"/>
                        </a:spcAft>
                        <a:buNone/>
                      </a:pPr>
                      <a:r>
                        <a:rPr lang="en" sz="1200"/>
                        <a:t>Mar-25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Monday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Feb-25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Friday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Tuesday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18000">
                <a:tc>
                  <a:txBody>
                    <a:bodyPr/>
                    <a:lstStyle/>
                    <a:p>
                      <a:pPr indent="0" lvl="0" marL="0" rtl="0" algn="ctr">
                        <a:lnSpc>
                          <a:spcPct val="115000"/>
                        </a:lnSpc>
                        <a:spcBef>
                          <a:spcPts val="0"/>
                        </a:spcBef>
                        <a:spcAft>
                          <a:spcPts val="0"/>
                        </a:spcAft>
                        <a:buNone/>
                      </a:pPr>
                      <a:r>
                        <a:rPr lang="en" sz="1200"/>
                        <a:t>Jan-25</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Thursday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Thursday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Dec-24</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Monday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Monday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18000">
                <a:tc>
                  <a:txBody>
                    <a:bodyPr/>
                    <a:lstStyle/>
                    <a:p>
                      <a:pPr indent="0" lvl="0" marL="0" rtl="0" algn="ctr">
                        <a:lnSpc>
                          <a:spcPct val="115000"/>
                        </a:lnSpc>
                        <a:spcBef>
                          <a:spcPts val="0"/>
                        </a:spcBef>
                        <a:spcAft>
                          <a:spcPts val="0"/>
                        </a:spcAft>
                        <a:buNone/>
                      </a:pPr>
                      <a:r>
                        <a:rPr lang="en" sz="1200"/>
                        <a:t>Nov-24</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Friday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Oct-24</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Saturday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Wednesday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18000">
                <a:tc>
                  <a:txBody>
                    <a:bodyPr/>
                    <a:lstStyle/>
                    <a:p>
                      <a:pPr indent="0" lvl="0" marL="0" rtl="0" algn="ctr">
                        <a:lnSpc>
                          <a:spcPct val="115000"/>
                        </a:lnSpc>
                        <a:spcBef>
                          <a:spcPts val="0"/>
                        </a:spcBef>
                        <a:spcAft>
                          <a:spcPts val="0"/>
                        </a:spcAft>
                        <a:buNone/>
                      </a:pPr>
                      <a:r>
                        <a:rPr lang="en" sz="1200"/>
                        <a:t>Sep-24</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Sunday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c>
                  <a:txBody>
                    <a:bodyPr/>
                    <a:lstStyle/>
                    <a:p>
                      <a:pPr indent="0" lvl="0" marL="0" rtl="0" algn="ctr">
                        <a:lnSpc>
                          <a:spcPct val="115000"/>
                        </a:lnSpc>
                        <a:spcBef>
                          <a:spcPts val="0"/>
                        </a:spcBef>
                        <a:spcAft>
                          <a:spcPts val="0"/>
                        </a:spcAft>
                        <a:buNone/>
                      </a:pPr>
                      <a:r>
                        <a:rPr lang="en" sz="1200"/>
                        <a:t>Monday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C1F0C8"/>
                    </a:solidFill>
                  </a:tcPr>
                </a:tc>
              </a:tr>
              <a:tr h="318000">
                <a:tc>
                  <a:txBody>
                    <a:bodyPr/>
                    <a:lstStyle/>
                    <a:p>
                      <a:pPr indent="0" lvl="0" marL="0" rtl="0" algn="ctr">
                        <a:lnSpc>
                          <a:spcPct val="115000"/>
                        </a:lnSpc>
                        <a:spcBef>
                          <a:spcPts val="0"/>
                        </a:spcBef>
                        <a:spcAft>
                          <a:spcPts val="0"/>
                        </a:spcAft>
                        <a:buNone/>
                      </a:pPr>
                      <a:r>
                        <a:rPr lang="en" sz="1200"/>
                        <a:t>Aug-24</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Friday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lang="en" sz="1200"/>
                        <a:t>Wednesday</a:t>
                      </a:r>
                      <a:endParaRPr sz="1200"/>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2"/>
          <p:cNvSpPr txBox="1"/>
          <p:nvPr>
            <p:ph type="title"/>
          </p:nvPr>
        </p:nvSpPr>
        <p:spPr>
          <a:xfrm>
            <a:off x="228600" y="198364"/>
            <a:ext cx="2926200" cy="3177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can we do next?</a:t>
            </a:r>
            <a:endParaRPr/>
          </a:p>
        </p:txBody>
      </p:sp>
      <p:cxnSp>
        <p:nvCxnSpPr>
          <p:cNvPr id="511" name="Google Shape;511;p52"/>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512" name="Google Shape;512;p52"/>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grpSp>
        <p:nvGrpSpPr>
          <p:cNvPr id="513" name="Google Shape;513;p52"/>
          <p:cNvGrpSpPr/>
          <p:nvPr/>
        </p:nvGrpSpPr>
        <p:grpSpPr>
          <a:xfrm rot="2218824">
            <a:off x="2320207" y="653844"/>
            <a:ext cx="1067482" cy="496264"/>
            <a:chOff x="1239432" y="2293258"/>
            <a:chExt cx="166309" cy="77308"/>
          </a:xfrm>
        </p:grpSpPr>
        <p:sp>
          <p:nvSpPr>
            <p:cNvPr id="514" name="Google Shape;514;p52"/>
            <p:cNvSpPr/>
            <p:nvPr/>
          </p:nvSpPr>
          <p:spPr>
            <a:xfrm>
              <a:off x="1239432" y="2295871"/>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5" name="Google Shape;515;p52"/>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6" name="Google Shape;516;p52"/>
            <p:cNvSpPr/>
            <p:nvPr/>
          </p:nvSpPr>
          <p:spPr>
            <a:xfrm>
              <a:off x="1385775" y="229325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517" name="Google Shape;517;p52"/>
          <p:cNvSpPr/>
          <p:nvPr/>
        </p:nvSpPr>
        <p:spPr>
          <a:xfrm>
            <a:off x="4819600" y="5629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Objective 1</a:t>
            </a:r>
            <a:endParaRPr sz="900">
              <a:solidFill>
                <a:schemeClr val="dk2"/>
              </a:solidFill>
              <a:latin typeface="Poppins SemiBold"/>
              <a:ea typeface="Poppins SemiBold"/>
              <a:cs typeface="Poppins SemiBold"/>
              <a:sym typeface="Poppins SemiBold"/>
            </a:endParaRPr>
          </a:p>
        </p:txBody>
      </p:sp>
      <p:sp>
        <p:nvSpPr>
          <p:cNvPr id="518" name="Google Shape;518;p52"/>
          <p:cNvSpPr/>
          <p:nvPr/>
        </p:nvSpPr>
        <p:spPr>
          <a:xfrm>
            <a:off x="4819600" y="192180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Objective </a:t>
            </a:r>
            <a:r>
              <a:rPr lang="en" sz="900">
                <a:solidFill>
                  <a:schemeClr val="dk2"/>
                </a:solidFill>
                <a:latin typeface="Poppins SemiBold"/>
                <a:ea typeface="Poppins SemiBold"/>
                <a:cs typeface="Poppins SemiBold"/>
                <a:sym typeface="Poppins SemiBold"/>
              </a:rPr>
              <a:t>2</a:t>
            </a:r>
            <a:endParaRPr sz="900">
              <a:solidFill>
                <a:schemeClr val="dk2"/>
              </a:solidFill>
              <a:latin typeface="Poppins SemiBold"/>
              <a:ea typeface="Poppins SemiBold"/>
              <a:cs typeface="Poppins SemiBold"/>
              <a:sym typeface="Poppins SemiBold"/>
            </a:endParaRPr>
          </a:p>
        </p:txBody>
      </p:sp>
      <p:sp>
        <p:nvSpPr>
          <p:cNvPr id="519" name="Google Shape;519;p52"/>
          <p:cNvSpPr/>
          <p:nvPr/>
        </p:nvSpPr>
        <p:spPr>
          <a:xfrm>
            <a:off x="4819600" y="32806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Objective </a:t>
            </a:r>
            <a:r>
              <a:rPr lang="en" sz="900">
                <a:solidFill>
                  <a:schemeClr val="dk2"/>
                </a:solidFill>
                <a:latin typeface="Poppins SemiBold"/>
                <a:ea typeface="Poppins SemiBold"/>
                <a:cs typeface="Poppins SemiBold"/>
                <a:sym typeface="Poppins SemiBold"/>
              </a:rPr>
              <a:t>3</a:t>
            </a:r>
            <a:endParaRPr sz="900">
              <a:solidFill>
                <a:schemeClr val="dk2"/>
              </a:solidFill>
              <a:latin typeface="Poppins SemiBold"/>
              <a:ea typeface="Poppins SemiBold"/>
              <a:cs typeface="Poppins SemiBold"/>
              <a:sym typeface="Poppins SemiBold"/>
            </a:endParaRPr>
          </a:p>
        </p:txBody>
      </p:sp>
      <p:sp>
        <p:nvSpPr>
          <p:cNvPr id="520" name="Google Shape;520;p52"/>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Target casual riders with personalized in-app nudges</a:t>
            </a:r>
            <a:endParaRPr/>
          </a:p>
        </p:txBody>
      </p:sp>
      <p:sp>
        <p:nvSpPr>
          <p:cNvPr id="521" name="Google Shape;521;p52"/>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Highlight year-round commuting benefits.</a:t>
            </a:r>
            <a:endParaRPr/>
          </a:p>
        </p:txBody>
      </p:sp>
      <p:sp>
        <p:nvSpPr>
          <p:cNvPr id="522" name="Google Shape;522;p52"/>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Create a weekend focused membership promotion.</a:t>
            </a:r>
            <a:endParaRPr/>
          </a:p>
        </p:txBody>
      </p:sp>
      <p:sp>
        <p:nvSpPr>
          <p:cNvPr id="523" name="Google Shape;523;p52"/>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135300" y="1003450"/>
            <a:ext cx="5458500" cy="11397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29" name="Google Shape;529;p53"/>
          <p:cNvSpPr/>
          <p:nvPr/>
        </p:nvSpPr>
        <p:spPr>
          <a:xfrm>
            <a:off x="135300" y="872525"/>
            <a:ext cx="54585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30" name="Google Shape;530;p53"/>
          <p:cNvSpPr/>
          <p:nvPr/>
        </p:nvSpPr>
        <p:spPr>
          <a:xfrm>
            <a:off x="139200" y="3797800"/>
            <a:ext cx="5458500" cy="11847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31" name="Google Shape;531;p53"/>
          <p:cNvSpPr/>
          <p:nvPr/>
        </p:nvSpPr>
        <p:spPr>
          <a:xfrm>
            <a:off x="139200" y="3613500"/>
            <a:ext cx="54585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32" name="Google Shape;532;p53"/>
          <p:cNvSpPr/>
          <p:nvPr/>
        </p:nvSpPr>
        <p:spPr>
          <a:xfrm>
            <a:off x="135300" y="2428788"/>
            <a:ext cx="5458500" cy="11847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33" name="Google Shape;533;p53"/>
          <p:cNvSpPr/>
          <p:nvPr/>
        </p:nvSpPr>
        <p:spPr>
          <a:xfrm>
            <a:off x="137250" y="2224125"/>
            <a:ext cx="54585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534" name="Google Shape;534;p53"/>
          <p:cNvSpPr txBox="1"/>
          <p:nvPr>
            <p:ph idx="1" type="subTitle"/>
          </p:nvPr>
        </p:nvSpPr>
        <p:spPr>
          <a:xfrm>
            <a:off x="135300" y="872525"/>
            <a:ext cx="39414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Objective 1</a:t>
            </a:r>
            <a:endParaRPr/>
          </a:p>
        </p:txBody>
      </p:sp>
      <p:sp>
        <p:nvSpPr>
          <p:cNvPr id="535" name="Google Shape;535;p53"/>
          <p:cNvSpPr txBox="1"/>
          <p:nvPr>
            <p:ph idx="2" type="subTitle"/>
          </p:nvPr>
        </p:nvSpPr>
        <p:spPr>
          <a:xfrm>
            <a:off x="135300" y="2231950"/>
            <a:ext cx="3731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Objective 2</a:t>
            </a:r>
            <a:endParaRPr/>
          </a:p>
        </p:txBody>
      </p:sp>
      <p:sp>
        <p:nvSpPr>
          <p:cNvPr id="536" name="Google Shape;536;p53"/>
          <p:cNvSpPr txBox="1"/>
          <p:nvPr>
            <p:ph idx="3" type="subTitle"/>
          </p:nvPr>
        </p:nvSpPr>
        <p:spPr>
          <a:xfrm>
            <a:off x="137256" y="3613500"/>
            <a:ext cx="23964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Objective 3</a:t>
            </a:r>
            <a:endParaRPr/>
          </a:p>
        </p:txBody>
      </p:sp>
      <p:sp>
        <p:nvSpPr>
          <p:cNvPr id="537" name="Google Shape;537;p53"/>
          <p:cNvSpPr txBox="1"/>
          <p:nvPr>
            <p:ph idx="4" type="body"/>
          </p:nvPr>
        </p:nvSpPr>
        <p:spPr>
          <a:xfrm>
            <a:off x="0" y="1252650"/>
            <a:ext cx="5829300" cy="9354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latin typeface="Arial"/>
                <a:ea typeface="Arial"/>
                <a:cs typeface="Arial"/>
                <a:sym typeface="Arial"/>
              </a:rPr>
              <a:t>Design a weekend rider membership campaign. In the membership details we can explain how much money casual riders can save if they become annual members. For example: we tell them “you will save X amount of dollars per month if you ride every weekend.” This could help to entice the casual riders to purchase annual memberships.</a:t>
            </a:r>
            <a:endParaRPr>
              <a:latin typeface="Arial"/>
              <a:ea typeface="Arial"/>
              <a:cs typeface="Arial"/>
              <a:sym typeface="Arial"/>
            </a:endParaRPr>
          </a:p>
        </p:txBody>
      </p:sp>
      <p:sp>
        <p:nvSpPr>
          <p:cNvPr id="538" name="Google Shape;538;p53"/>
          <p:cNvSpPr txBox="1"/>
          <p:nvPr>
            <p:ph idx="5" type="body"/>
          </p:nvPr>
        </p:nvSpPr>
        <p:spPr>
          <a:xfrm>
            <a:off x="0" y="2609413"/>
            <a:ext cx="59058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latin typeface="Arial"/>
                <a:ea typeface="Arial"/>
                <a:cs typeface="Arial"/>
                <a:sym typeface="Arial"/>
              </a:rPr>
              <a:t>Let’s market our bike companies annual membership as a way to show that biking can be a reliable commuting option year-round. To get people using bikes in the winter, let's offer winter perks for annual riders (for example: discounts on winter apparel/gear and guaranteeing bike availability). This will help show that our memberships have a consistent value beyond just summer fun.</a:t>
            </a:r>
            <a:endParaRPr sz="900"/>
          </a:p>
        </p:txBody>
      </p:sp>
      <p:sp>
        <p:nvSpPr>
          <p:cNvPr id="539" name="Google Shape;539;p53"/>
          <p:cNvSpPr txBox="1"/>
          <p:nvPr>
            <p:ph idx="6" type="body"/>
          </p:nvPr>
        </p:nvSpPr>
        <p:spPr>
          <a:xfrm>
            <a:off x="0" y="3991575"/>
            <a:ext cx="5731500" cy="1384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latin typeface="Arial"/>
                <a:ea typeface="Arial"/>
                <a:cs typeface="Arial"/>
                <a:sym typeface="Arial"/>
              </a:rPr>
              <a:t>After a casual rider has rode a couple weekends in a row, our app can send a notification that encourages them to buy the annual membership. It can say something like, “great job logging X amount of rides, a membership could have saved you $X amount of dollars. Ready to upgrade?” </a:t>
            </a:r>
            <a:endParaRPr>
              <a:latin typeface="Arial"/>
              <a:ea typeface="Arial"/>
              <a:cs typeface="Arial"/>
              <a:sym typeface="Arial"/>
            </a:endParaRPr>
          </a:p>
        </p:txBody>
      </p:sp>
      <p:sp>
        <p:nvSpPr>
          <p:cNvPr id="540" name="Google Shape;540;p53"/>
          <p:cNvSpPr txBox="1"/>
          <p:nvPr>
            <p:ph type="title"/>
          </p:nvPr>
        </p:nvSpPr>
        <p:spPr>
          <a:xfrm>
            <a:off x="2097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to </a:t>
            </a:r>
            <a:r>
              <a:rPr lang="en"/>
              <a:t>achieve</a:t>
            </a:r>
            <a:r>
              <a:rPr lang="en"/>
              <a:t> these goals</a:t>
            </a:r>
            <a:endParaRPr/>
          </a:p>
        </p:txBody>
      </p:sp>
      <p:grpSp>
        <p:nvGrpSpPr>
          <p:cNvPr id="541" name="Google Shape;541;p53"/>
          <p:cNvGrpSpPr/>
          <p:nvPr/>
        </p:nvGrpSpPr>
        <p:grpSpPr>
          <a:xfrm>
            <a:off x="5593802" y="1003443"/>
            <a:ext cx="791090" cy="860886"/>
            <a:chOff x="6219513" y="1474206"/>
            <a:chExt cx="890968" cy="969576"/>
          </a:xfrm>
        </p:grpSpPr>
        <p:sp>
          <p:nvSpPr>
            <p:cNvPr id="542" name="Google Shape;542;p53"/>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9525">
              <a:solidFill>
                <a:schemeClr val="dk1"/>
              </a:solidFill>
              <a:prstDash val="solid"/>
              <a:round/>
              <a:headEnd len="med" w="med" type="none"/>
              <a:tailEnd len="med" w="med" type="none"/>
            </a:ln>
          </p:spPr>
        </p:sp>
        <p:sp>
          <p:nvSpPr>
            <p:cNvPr id="543" name="Google Shape;543;p53"/>
            <p:cNvSpPr/>
            <p:nvPr/>
          </p:nvSpPr>
          <p:spPr>
            <a:xfrm>
              <a:off x="6564073" y="2301803"/>
              <a:ext cx="35119" cy="141979"/>
            </a:xfrm>
            <a:custGeom>
              <a:rect b="b" l="l" r="r" t="t"/>
              <a:pathLst>
                <a:path extrusionOk="0" h="8134" w="2012">
                  <a:moveTo>
                    <a:pt x="0" y="0"/>
                  </a:moveTo>
                  <a:cubicBezTo>
                    <a:pt x="763" y="2664"/>
                    <a:pt x="2740" y="5561"/>
                    <a:pt x="1713" y="8134"/>
                  </a:cubicBezTo>
                </a:path>
              </a:pathLst>
            </a:custGeom>
            <a:noFill/>
            <a:ln cap="flat" cmpd="sng" w="9525">
              <a:solidFill>
                <a:schemeClr val="dk1"/>
              </a:solidFill>
              <a:prstDash val="solid"/>
              <a:round/>
              <a:headEnd len="med" w="med" type="none"/>
              <a:tailEnd len="med" w="med" type="none"/>
            </a:ln>
          </p:spPr>
        </p:sp>
        <p:sp>
          <p:nvSpPr>
            <p:cNvPr id="544" name="Google Shape;544;p53"/>
            <p:cNvSpPr/>
            <p:nvPr/>
          </p:nvSpPr>
          <p:spPr>
            <a:xfrm>
              <a:off x="6593941" y="2423774"/>
              <a:ext cx="144475" cy="17438"/>
            </a:xfrm>
            <a:custGeom>
              <a:rect b="b" l="l" r="r" t="t"/>
              <a:pathLst>
                <a:path extrusionOk="0" h="999" w="8277">
                  <a:moveTo>
                    <a:pt x="0" y="999"/>
                  </a:moveTo>
                  <a:cubicBezTo>
                    <a:pt x="2696" y="326"/>
                    <a:pt x="5498" y="0"/>
                    <a:pt x="8277" y="0"/>
                  </a:cubicBezTo>
                </a:path>
              </a:pathLst>
            </a:custGeom>
            <a:noFill/>
            <a:ln cap="flat" cmpd="sng" w="9525">
              <a:solidFill>
                <a:schemeClr val="dk1"/>
              </a:solidFill>
              <a:prstDash val="solid"/>
              <a:round/>
              <a:headEnd len="med" w="med" type="none"/>
              <a:tailEnd len="med" w="med" type="none"/>
            </a:ln>
          </p:spPr>
        </p:sp>
      </p:grpSp>
      <p:sp>
        <p:nvSpPr>
          <p:cNvPr id="545" name="Google Shape;545;p53"/>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4"/>
          <p:cNvSpPr/>
          <p:nvPr/>
        </p:nvSpPr>
        <p:spPr>
          <a:xfrm>
            <a:off x="2423699" y="3220950"/>
            <a:ext cx="4379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551" name="Google Shape;551;p54"/>
          <p:cNvSpPr txBox="1"/>
          <p:nvPr>
            <p:ph type="title"/>
          </p:nvPr>
        </p:nvSpPr>
        <p:spPr>
          <a:xfrm>
            <a:off x="1183200" y="2011356"/>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52" name="Google Shape;552;p54"/>
          <p:cNvSpPr txBox="1"/>
          <p:nvPr>
            <p:ph idx="1" type="subTitle"/>
          </p:nvPr>
        </p:nvSpPr>
        <p:spPr>
          <a:xfrm>
            <a:off x="2398650" y="4068175"/>
            <a:ext cx="43467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54"/>
          <p:cNvSpPr txBox="1"/>
          <p:nvPr>
            <p:ph idx="2" type="body"/>
          </p:nvPr>
        </p:nvSpPr>
        <p:spPr>
          <a:xfrm>
            <a:off x="2423700" y="3220950"/>
            <a:ext cx="4379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Questions/comments?</a:t>
            </a:r>
            <a:endParaRPr/>
          </a:p>
        </p:txBody>
      </p:sp>
      <p:sp>
        <p:nvSpPr>
          <p:cNvPr id="554" name="Google Shape;554;p54"/>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
        <p:nvSpPr>
          <p:cNvPr id="555" name="Google Shape;555;p5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